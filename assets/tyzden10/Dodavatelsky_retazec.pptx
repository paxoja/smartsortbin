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ibre Baskerville Bold" charset="1" panose="02000000000000000000"/>
      <p:regular r:id="rId13"/>
    </p:embeddedFont>
    <p:embeddedFont>
      <p:font typeface="Inter Bold" charset="1" panose="020B080203000000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5310819" y="0"/>
            <a:ext cx="2977181" cy="2977181"/>
            <a:chOff x="0" y="0"/>
            <a:chExt cx="3969575" cy="396957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536399" y="1655882"/>
            <a:ext cx="1321300" cy="13213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5703926" y="7490954"/>
            <a:ext cx="1488591" cy="14885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857699" y="334582"/>
            <a:ext cx="1321300" cy="13213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6799409" y="8798409"/>
            <a:ext cx="1488591" cy="14885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4215335" y="7490954"/>
            <a:ext cx="1488591" cy="148859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TextBox 37" id="37"/>
          <p:cNvSpPr txBox="true"/>
          <p:nvPr/>
        </p:nvSpPr>
        <p:spPr>
          <a:xfrm rot="0">
            <a:off x="4800862" y="3442335"/>
            <a:ext cx="8686275" cy="299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b="true" sz="6000" spc="-89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SmartSort bin: Dodávateľský reťazec </a:t>
            </a:r>
          </a:p>
          <a:p>
            <a:pPr algn="ctr">
              <a:lnSpc>
                <a:spcPts val="798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208888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597900" y="6192591"/>
            <a:ext cx="2950042" cy="1659398"/>
          </a:xfrm>
          <a:custGeom>
            <a:avLst/>
            <a:gdLst/>
            <a:ahLst/>
            <a:cxnLst/>
            <a:rect r="r" b="b" t="t" l="l"/>
            <a:pathLst>
              <a:path h="1659398" w="2950042">
                <a:moveTo>
                  <a:pt x="0" y="0"/>
                </a:moveTo>
                <a:lnTo>
                  <a:pt x="2950041" y="0"/>
                </a:lnTo>
                <a:lnTo>
                  <a:pt x="2950041" y="1659399"/>
                </a:lnTo>
                <a:lnTo>
                  <a:pt x="0" y="1659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315746" y="6182578"/>
            <a:ext cx="3719341" cy="1664405"/>
          </a:xfrm>
          <a:custGeom>
            <a:avLst/>
            <a:gdLst/>
            <a:ahLst/>
            <a:cxnLst/>
            <a:rect r="r" b="b" t="t" l="l"/>
            <a:pathLst>
              <a:path h="1664405" w="3719341">
                <a:moveTo>
                  <a:pt x="0" y="0"/>
                </a:moveTo>
                <a:lnTo>
                  <a:pt x="3719341" y="0"/>
                </a:lnTo>
                <a:lnTo>
                  <a:pt x="3719341" y="1664405"/>
                </a:lnTo>
                <a:lnTo>
                  <a:pt x="0" y="16644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792116" y="6374769"/>
            <a:ext cx="3865799" cy="1295043"/>
          </a:xfrm>
          <a:custGeom>
            <a:avLst/>
            <a:gdLst/>
            <a:ahLst/>
            <a:cxnLst/>
            <a:rect r="r" b="b" t="t" l="l"/>
            <a:pathLst>
              <a:path h="1295043" w="3865799">
                <a:moveTo>
                  <a:pt x="0" y="0"/>
                </a:moveTo>
                <a:lnTo>
                  <a:pt x="3865799" y="0"/>
                </a:lnTo>
                <a:lnTo>
                  <a:pt x="3865799" y="1295043"/>
                </a:lnTo>
                <a:lnTo>
                  <a:pt x="0" y="1295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4010855" y="5951363"/>
            <a:ext cx="2477938" cy="2477938"/>
          </a:xfrm>
          <a:custGeom>
            <a:avLst/>
            <a:gdLst/>
            <a:ahLst/>
            <a:cxnLst/>
            <a:rect r="r" b="b" t="t" l="l"/>
            <a:pathLst>
              <a:path h="2477938" w="2477938">
                <a:moveTo>
                  <a:pt x="0" y="0"/>
                </a:moveTo>
                <a:lnTo>
                  <a:pt x="2477938" y="0"/>
                </a:lnTo>
                <a:lnTo>
                  <a:pt x="2477938" y="2477938"/>
                </a:lnTo>
                <a:lnTo>
                  <a:pt x="0" y="2477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351033" y="1965064"/>
            <a:ext cx="792942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Dodávatelia surovín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3475" y="3298016"/>
            <a:ext cx="702751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Materiály na výrobu koša (plast, kovové časti, mechanické komponenty) 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napr. BASF (plasty), ArcelorMittal (oceľ)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9453718" y="3412316"/>
            <a:ext cx="628290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Softvérové nástroje a AI knižniceGoogle (TensorFlow), Microsoft (Azure AI), OpenAI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208888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9212833" y="0"/>
            <a:ext cx="9075167" cy="10287000"/>
          </a:xfrm>
          <a:custGeom>
            <a:avLst/>
            <a:gdLst/>
            <a:ahLst/>
            <a:cxnLst/>
            <a:rect r="r" b="b" t="t" l="l"/>
            <a:pathLst>
              <a:path h="10287000" w="9075167">
                <a:moveTo>
                  <a:pt x="0" y="0"/>
                </a:moveTo>
                <a:lnTo>
                  <a:pt x="9075167" y="0"/>
                </a:lnTo>
                <a:lnTo>
                  <a:pt x="90751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22" t="0" r="-68899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28850" y="223903"/>
            <a:ext cx="6779047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-12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Výroba a</a:t>
            </a:r>
            <a:r>
              <a:rPr lang="en-US" b="true" sz="6000" spc="-12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dodávka komponentov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65073" y="3329053"/>
            <a:ext cx="702751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kamery a senzory: 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Sony, Bosch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65073" y="4943475"/>
            <a:ext cx="902611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riadiace jednotky: NVIDIA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65073" y="6200775"/>
            <a:ext cx="750659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mechanické triediace systémy (motorčeky, klapky): Siemens, Festo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625767" y="216433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11401367" y="144540"/>
            <a:ext cx="6886633" cy="10443140"/>
          </a:xfrm>
          <a:custGeom>
            <a:avLst/>
            <a:gdLst/>
            <a:ahLst/>
            <a:cxnLst/>
            <a:rect r="r" b="b" t="t" l="l"/>
            <a:pathLst>
              <a:path h="10443140" w="6886633">
                <a:moveTo>
                  <a:pt x="0" y="0"/>
                </a:moveTo>
                <a:lnTo>
                  <a:pt x="6886633" y="0"/>
                </a:lnTo>
                <a:lnTo>
                  <a:pt x="6886633" y="10443140"/>
                </a:lnTo>
                <a:lnTo>
                  <a:pt x="0" y="1044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191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73991" y="4804792"/>
            <a:ext cx="625122" cy="999468"/>
          </a:xfrm>
          <a:custGeom>
            <a:avLst/>
            <a:gdLst/>
            <a:ahLst/>
            <a:cxnLst/>
            <a:rect r="r" b="b" t="t" l="l"/>
            <a:pathLst>
              <a:path h="999468" w="625122">
                <a:moveTo>
                  <a:pt x="0" y="0"/>
                </a:moveTo>
                <a:lnTo>
                  <a:pt x="625122" y="0"/>
                </a:lnTo>
                <a:lnTo>
                  <a:pt x="625122" y="999468"/>
                </a:lnTo>
                <a:lnTo>
                  <a:pt x="0" y="999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28850" y="613029"/>
            <a:ext cx="96771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tegrácia a vývoj systému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24653" y="1222629"/>
            <a:ext cx="702751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Vývoj AI modelu na rozpoznávanie odpadu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Programovanie softvéru (analýza obrazu, rozhodovanie)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Prepojenie h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ardvéru a softvéru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Testovanie funkčnosti (prototypy)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624653" y="7870980"/>
            <a:ext cx="841094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Montáž SmartSort Bin zariadenia: Foxconn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Kon</a:t>
            </a: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trola kvality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Balenie produktu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773991" y="7258921"/>
            <a:ext cx="96771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Vý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roba finálneho produktu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85063" y="4861285"/>
            <a:ext cx="6490129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ôže sa realizovať interne alebo v spolupráci s IT firmami.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2088889"/>
            <a:ext cx="13819258" cy="6109223"/>
            <a:chOff x="0" y="0"/>
            <a:chExt cx="3639640" cy="16090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39640" cy="1609013"/>
            </a:xfrm>
            <a:custGeom>
              <a:avLst/>
              <a:gdLst/>
              <a:ahLst/>
              <a:cxnLst/>
              <a:rect r="r" b="b" t="t" l="l"/>
              <a:pathLst>
                <a:path h="1609013" w="3639640">
                  <a:moveTo>
                    <a:pt x="16807" y="0"/>
                  </a:moveTo>
                  <a:lnTo>
                    <a:pt x="3622833" y="0"/>
                  </a:lnTo>
                  <a:cubicBezTo>
                    <a:pt x="3627291" y="0"/>
                    <a:pt x="3631566" y="1771"/>
                    <a:pt x="3634717" y="4923"/>
                  </a:cubicBezTo>
                  <a:cubicBezTo>
                    <a:pt x="3637869" y="8074"/>
                    <a:pt x="3639640" y="12349"/>
                    <a:pt x="3639640" y="16807"/>
                  </a:cubicBezTo>
                  <a:lnTo>
                    <a:pt x="3639640" y="1592207"/>
                  </a:lnTo>
                  <a:cubicBezTo>
                    <a:pt x="3639640" y="1596664"/>
                    <a:pt x="3637869" y="1600939"/>
                    <a:pt x="3634717" y="1604091"/>
                  </a:cubicBezTo>
                  <a:cubicBezTo>
                    <a:pt x="3631566" y="1607243"/>
                    <a:pt x="3627291" y="1609013"/>
                    <a:pt x="3622833" y="1609013"/>
                  </a:cubicBezTo>
                  <a:lnTo>
                    <a:pt x="16807" y="1609013"/>
                  </a:lnTo>
                  <a:cubicBezTo>
                    <a:pt x="7525" y="1609013"/>
                    <a:pt x="0" y="1601489"/>
                    <a:pt x="0" y="1592207"/>
                  </a:cubicBezTo>
                  <a:lnTo>
                    <a:pt x="0" y="16807"/>
                  </a:lnTo>
                  <a:cubicBezTo>
                    <a:pt x="0" y="12349"/>
                    <a:pt x="1771" y="8074"/>
                    <a:pt x="4923" y="4923"/>
                  </a:cubicBezTo>
                  <a:cubicBezTo>
                    <a:pt x="8074" y="1771"/>
                    <a:pt x="12349" y="0"/>
                    <a:pt x="16807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639640" cy="1589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9693202" y="3903015"/>
            <a:ext cx="625122" cy="999468"/>
          </a:xfrm>
          <a:custGeom>
            <a:avLst/>
            <a:gdLst/>
            <a:ahLst/>
            <a:cxnLst/>
            <a:rect r="r" b="b" t="t" l="l"/>
            <a:pathLst>
              <a:path h="999468" w="625122">
                <a:moveTo>
                  <a:pt x="0" y="0"/>
                </a:moveTo>
                <a:lnTo>
                  <a:pt x="625122" y="0"/>
                </a:lnTo>
                <a:lnTo>
                  <a:pt x="625122" y="999469"/>
                </a:lnTo>
                <a:lnTo>
                  <a:pt x="0" y="999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-1675377" y="5812293"/>
            <a:ext cx="19963377" cy="4474707"/>
          </a:xfrm>
          <a:custGeom>
            <a:avLst/>
            <a:gdLst/>
            <a:ahLst/>
            <a:cxnLst/>
            <a:rect r="r" b="b" t="t" l="l"/>
            <a:pathLst>
              <a:path h="4474707" w="19963377">
                <a:moveTo>
                  <a:pt x="0" y="0"/>
                </a:moveTo>
                <a:lnTo>
                  <a:pt x="19963377" y="0"/>
                </a:lnTo>
                <a:lnTo>
                  <a:pt x="19963377" y="4474707"/>
                </a:lnTo>
                <a:lnTo>
                  <a:pt x="0" y="4474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6380" r="0" b="-33862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28700" y="1336414"/>
            <a:ext cx="792942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Distribúcia a logistika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8982" y="2002616"/>
            <a:ext cx="7027515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Skladovanie produktov: DHL, UPS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Doprava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9453718" y="2002616"/>
            <a:ext cx="628290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Predaj zákazníkom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Inštalácia zariadenia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Zaškolenie používateľov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9693202" y="1336414"/>
            <a:ext cx="792942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Predaj a implementácia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16464" y="3836340"/>
            <a:ext cx="6282904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Možná spolupráca s lokálnym</a:t>
            </a:r>
            <a:r>
              <a:rPr lang="en-US" sz="3000" b="true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i partnermi alebo mestami.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5400000">
            <a:off x="15736621" y="803205"/>
            <a:ext cx="1857699" cy="1857699"/>
            <a:chOff x="0" y="0"/>
            <a:chExt cx="2476932" cy="2476932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5400000">
            <a:off x="1133475" y="1333631"/>
            <a:ext cx="928850" cy="92885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82723" lIns="82723" bIns="82723" rIns="82723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161343" y="0"/>
            <a:ext cx="14741871" cy="10287000"/>
            <a:chOff x="0" y="0"/>
            <a:chExt cx="3882633" cy="27093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82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82633">
                  <a:moveTo>
                    <a:pt x="15755" y="0"/>
                  </a:moveTo>
                  <a:lnTo>
                    <a:pt x="3866878" y="0"/>
                  </a:lnTo>
                  <a:cubicBezTo>
                    <a:pt x="3871056" y="0"/>
                    <a:pt x="3875063" y="1660"/>
                    <a:pt x="3878018" y="4615"/>
                  </a:cubicBezTo>
                  <a:cubicBezTo>
                    <a:pt x="3880973" y="7569"/>
                    <a:pt x="3882633" y="11576"/>
                    <a:pt x="3882633" y="15755"/>
                  </a:cubicBezTo>
                  <a:lnTo>
                    <a:pt x="3882633" y="2693578"/>
                  </a:lnTo>
                  <a:cubicBezTo>
                    <a:pt x="3882633" y="2697757"/>
                    <a:pt x="3880973" y="2701764"/>
                    <a:pt x="3878018" y="2704719"/>
                  </a:cubicBezTo>
                  <a:cubicBezTo>
                    <a:pt x="3875063" y="2707673"/>
                    <a:pt x="3871056" y="2709333"/>
                    <a:pt x="3866878" y="2709333"/>
                  </a:cubicBezTo>
                  <a:lnTo>
                    <a:pt x="15755" y="2709333"/>
                  </a:lnTo>
                  <a:cubicBezTo>
                    <a:pt x="7054" y="2709333"/>
                    <a:pt x="0" y="2702280"/>
                    <a:pt x="0" y="2693578"/>
                  </a:cubicBezTo>
                  <a:lnTo>
                    <a:pt x="0" y="15755"/>
                  </a:lnTo>
                  <a:cubicBezTo>
                    <a:pt x="0" y="11576"/>
                    <a:pt x="1660" y="7569"/>
                    <a:pt x="4615" y="4615"/>
                  </a:cubicBezTo>
                  <a:cubicBezTo>
                    <a:pt x="7569" y="1660"/>
                    <a:pt x="11576" y="0"/>
                    <a:pt x="15755" y="0"/>
                  </a:cubicBezTo>
                  <a:close/>
                </a:path>
              </a:pathLst>
            </a:custGeom>
            <a:solidFill>
              <a:srgbClr val="FFFFFF">
                <a:alpha val="60784"/>
              </a:srgbClr>
            </a:solidFill>
            <a:ln cap="rnd">
              <a:noFill/>
              <a:prstDash val="sysDot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3882633" cy="2690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5404085" y="8037505"/>
            <a:ext cx="928850" cy="1857699"/>
            <a:chOff x="0" y="0"/>
            <a:chExt cx="1238466" cy="2476932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5400000">
            <a:off x="5819437" y="464425"/>
            <a:ext cx="1857699" cy="928850"/>
            <a:chOff x="0" y="0"/>
            <a:chExt cx="2476932" cy="123846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sp>
        <p:nvSpPr>
          <p:cNvPr name="Freeform 42" id="42"/>
          <p:cNvSpPr/>
          <p:nvPr/>
        </p:nvSpPr>
        <p:spPr>
          <a:xfrm flipH="false" flipV="false" rot="0">
            <a:off x="9700542" y="2262480"/>
            <a:ext cx="5607301" cy="5607301"/>
          </a:xfrm>
          <a:custGeom>
            <a:avLst/>
            <a:gdLst/>
            <a:ahLst/>
            <a:cxnLst/>
            <a:rect r="r" b="b" t="t" l="l"/>
            <a:pathLst>
              <a:path h="5607301" w="5607301">
                <a:moveTo>
                  <a:pt x="0" y="0"/>
                </a:moveTo>
                <a:lnTo>
                  <a:pt x="5607301" y="0"/>
                </a:lnTo>
                <a:lnTo>
                  <a:pt x="5607301" y="5607301"/>
                </a:lnTo>
                <a:lnTo>
                  <a:pt x="0" y="56073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74083" y="1967205"/>
            <a:ext cx="59311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pc="-6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</a:t>
            </a:r>
            <a:r>
              <a:rPr lang="en-US" b="true" sz="3000" spc="-60" strike="noStrike" u="non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oncový používateľ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2885" y="2665007"/>
            <a:ext cx="6673552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Domácnosti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Školy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Firmy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Verejné priestory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97900" y="5884457"/>
            <a:ext cx="6469329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Ukladanie dát o odpade a rozhodnutiach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Opravy od používateľov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 spc="-60">
                <a:solidFill>
                  <a:srgbClr val="676E7B"/>
                </a:solidFill>
                <a:latin typeface="Inter Bold"/>
                <a:ea typeface="Inter Bold"/>
                <a:cs typeface="Inter Bold"/>
                <a:sym typeface="Inter Bold"/>
              </a:rPr>
              <a:t>Zlepšovanie AI modelu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857699" y="5274857"/>
            <a:ext cx="71485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Zber dát a spätná väzba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5439" y="4267254"/>
            <a:ext cx="7757122" cy="202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7200" spc="-72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Ďakujeme za pozornosť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0" y="8429301"/>
            <a:ext cx="1857699" cy="1857699"/>
            <a:chOff x="0" y="0"/>
            <a:chExt cx="2476932" cy="2476932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5400000">
            <a:off x="11533970" y="2166319"/>
            <a:ext cx="2977181" cy="2977181"/>
            <a:chOff x="0" y="0"/>
            <a:chExt cx="3969575" cy="396957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984788" cy="198478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1984788"/>
              <a:ext cx="1984788" cy="1984788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84788" y="0"/>
              <a:ext cx="1984788" cy="1984788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5400000">
            <a:off x="5525495" y="1967693"/>
            <a:ext cx="1488591" cy="14885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4036904" y="6940710"/>
            <a:ext cx="1488591" cy="148859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BEBE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4036904" y="3456284"/>
            <a:ext cx="1488591" cy="148859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EAE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5400000">
            <a:off x="11089327" y="7417953"/>
            <a:ext cx="1488591" cy="1488591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2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5400000">
            <a:off x="2548314" y="6940710"/>
            <a:ext cx="1488591" cy="148859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1E1E1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19050"/>
              <a:ext cx="812800" cy="793750"/>
            </a:xfrm>
            <a:prstGeom prst="rect">
              <a:avLst/>
            </a:prstGeom>
          </p:spPr>
          <p:txBody>
            <a:bodyPr anchor="ctr" rtlCol="false" tIns="132573" lIns="132573" bIns="132573" rIns="132573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52400" y="8581701"/>
            <a:ext cx="1857699" cy="1857699"/>
            <a:chOff x="0" y="0"/>
            <a:chExt cx="2476932" cy="2476932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238466" cy="1238466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1E1E2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1238466"/>
              <a:ext cx="1238466" cy="123846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BEBEC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238466" y="0"/>
              <a:ext cx="1238466" cy="1238466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AEAEB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19050"/>
                <a:ext cx="8128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79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DAHGZLll-wo</dc:identifier>
  <dcterms:modified xsi:type="dcterms:W3CDTF">2011-08-01T06:04:30Z</dcterms:modified>
  <cp:revision>1</cp:revision>
  <dc:title>SmartSort bin: Ganttov diagram</dc:title>
</cp:coreProperties>
</file>