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Libre Baskerville Bold" charset="1" panose="02000000000000000000"/>
      <p:regular r:id="rId13"/>
    </p:embeddedFont>
    <p:embeddedFont>
      <p:font typeface="Inter Bold" charset="1" panose="020B080203000000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5310819" y="0"/>
            <a:ext cx="2977181" cy="2977181"/>
            <a:chOff x="0" y="0"/>
            <a:chExt cx="3969575" cy="396957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984788" cy="198478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984788"/>
              <a:ext cx="1984788" cy="198478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984788" y="0"/>
              <a:ext cx="1984788" cy="1984788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536399" y="1655882"/>
            <a:ext cx="1321300" cy="13213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5703926" y="7490954"/>
            <a:ext cx="1488591" cy="148859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BEBE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857699" y="334582"/>
            <a:ext cx="1321300" cy="132130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16799409" y="8798409"/>
            <a:ext cx="1488591" cy="148859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5400000">
            <a:off x="4215335" y="7490954"/>
            <a:ext cx="1488591" cy="148859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37" id="37"/>
          <p:cNvSpPr txBox="true"/>
          <p:nvPr/>
        </p:nvSpPr>
        <p:spPr>
          <a:xfrm rot="0">
            <a:off x="5265439" y="3905250"/>
            <a:ext cx="7757122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 spc="-8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SmartSort bin: Ganttov diagram</a:t>
            </a:r>
          </a:p>
          <a:p>
            <a:pPr algn="ctr">
              <a:lnSpc>
                <a:spcPts val="660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8097" y="2504459"/>
            <a:ext cx="17891806" cy="5278083"/>
          </a:xfrm>
          <a:custGeom>
            <a:avLst/>
            <a:gdLst/>
            <a:ahLst/>
            <a:cxnLst/>
            <a:rect r="r" b="b" t="t" l="l"/>
            <a:pathLst>
              <a:path h="5278083" w="17891806">
                <a:moveTo>
                  <a:pt x="0" y="0"/>
                </a:moveTo>
                <a:lnTo>
                  <a:pt x="17891806" y="0"/>
                </a:lnTo>
                <a:lnTo>
                  <a:pt x="17891806" y="5278082"/>
                </a:lnTo>
                <a:lnTo>
                  <a:pt x="0" y="5278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5400000">
            <a:off x="1133475" y="1333631"/>
            <a:ext cx="928850" cy="92885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-161343" y="2088889"/>
            <a:ext cx="13819258" cy="6109223"/>
            <a:chOff x="0" y="0"/>
            <a:chExt cx="3639640" cy="160901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39640" cy="1609013"/>
            </a:xfrm>
            <a:custGeom>
              <a:avLst/>
              <a:gdLst/>
              <a:ahLst/>
              <a:cxnLst/>
              <a:rect r="r" b="b" t="t" l="l"/>
              <a:pathLst>
                <a:path h="1609013" w="3639640">
                  <a:moveTo>
                    <a:pt x="16807" y="0"/>
                  </a:moveTo>
                  <a:lnTo>
                    <a:pt x="3622833" y="0"/>
                  </a:lnTo>
                  <a:cubicBezTo>
                    <a:pt x="3627291" y="0"/>
                    <a:pt x="3631566" y="1771"/>
                    <a:pt x="3634717" y="4923"/>
                  </a:cubicBezTo>
                  <a:cubicBezTo>
                    <a:pt x="3637869" y="8074"/>
                    <a:pt x="3639640" y="12349"/>
                    <a:pt x="3639640" y="16807"/>
                  </a:cubicBezTo>
                  <a:lnTo>
                    <a:pt x="3639640" y="1592207"/>
                  </a:lnTo>
                  <a:cubicBezTo>
                    <a:pt x="3639640" y="1596664"/>
                    <a:pt x="3637869" y="1600939"/>
                    <a:pt x="3634717" y="1604091"/>
                  </a:cubicBezTo>
                  <a:cubicBezTo>
                    <a:pt x="3631566" y="1607243"/>
                    <a:pt x="3627291" y="1609013"/>
                    <a:pt x="3622833" y="1609013"/>
                  </a:cubicBezTo>
                  <a:lnTo>
                    <a:pt x="16807" y="1609013"/>
                  </a:lnTo>
                  <a:cubicBezTo>
                    <a:pt x="7525" y="1609013"/>
                    <a:pt x="0" y="1601489"/>
                    <a:pt x="0" y="1592207"/>
                  </a:cubicBezTo>
                  <a:lnTo>
                    <a:pt x="0" y="16807"/>
                  </a:lnTo>
                  <a:cubicBezTo>
                    <a:pt x="0" y="12349"/>
                    <a:pt x="1771" y="8074"/>
                    <a:pt x="4923" y="4923"/>
                  </a:cubicBezTo>
                  <a:cubicBezTo>
                    <a:pt x="8074" y="1771"/>
                    <a:pt x="12349" y="0"/>
                    <a:pt x="16807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 cap="rnd">
              <a:noFill/>
              <a:prstDash val="sysDot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3639640" cy="158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5404085" y="8037505"/>
            <a:ext cx="928850" cy="1857699"/>
            <a:chOff x="0" y="0"/>
            <a:chExt cx="1238466" cy="2476932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5400000">
            <a:off x="5819437" y="464425"/>
            <a:ext cx="1857699" cy="928850"/>
            <a:chOff x="0" y="0"/>
            <a:chExt cx="2476932" cy="1238466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42" id="42"/>
          <p:cNvSpPr txBox="true"/>
          <p:nvPr/>
        </p:nvSpPr>
        <p:spPr>
          <a:xfrm rot="0">
            <a:off x="390499" y="2653005"/>
            <a:ext cx="531894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3000" spc="-6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nalýza a návrh (Týždeň 1–3)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3808" y="3412316"/>
            <a:ext cx="6673552" cy="425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Definovanie požiadaviek systému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Prieskum existujúcich riešení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Návrh architektúry (Hardware a Software)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Výber technológií (kamera, senzory, AI model)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7188586" y="3412316"/>
            <a:ext cx="6469329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Výber komponentov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Návrh konštrukcie koša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Návrh mechanizmu na triedenie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Objednanie komponentov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7431936" y="2738730"/>
            <a:ext cx="598263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Návrh hardvéru (Týždeň 3–6)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11660446" y="3659446"/>
            <a:ext cx="6627554" cy="6627554"/>
          </a:xfrm>
          <a:custGeom>
            <a:avLst/>
            <a:gdLst/>
            <a:ahLst/>
            <a:cxnLst/>
            <a:rect r="r" b="b" t="t" l="l"/>
            <a:pathLst>
              <a:path h="6627554" w="6627554">
                <a:moveTo>
                  <a:pt x="0" y="0"/>
                </a:moveTo>
                <a:lnTo>
                  <a:pt x="6627554" y="0"/>
                </a:lnTo>
                <a:lnTo>
                  <a:pt x="6627554" y="6627554"/>
                </a:lnTo>
                <a:lnTo>
                  <a:pt x="0" y="6627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5400000">
            <a:off x="1133475" y="1333631"/>
            <a:ext cx="928850" cy="92885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-161343" y="0"/>
            <a:ext cx="14741871" cy="10287000"/>
            <a:chOff x="0" y="0"/>
            <a:chExt cx="3882633" cy="27093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826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3882633">
                  <a:moveTo>
                    <a:pt x="15755" y="0"/>
                  </a:moveTo>
                  <a:lnTo>
                    <a:pt x="3866878" y="0"/>
                  </a:lnTo>
                  <a:cubicBezTo>
                    <a:pt x="3871056" y="0"/>
                    <a:pt x="3875063" y="1660"/>
                    <a:pt x="3878018" y="4615"/>
                  </a:cubicBezTo>
                  <a:cubicBezTo>
                    <a:pt x="3880973" y="7569"/>
                    <a:pt x="3882633" y="11576"/>
                    <a:pt x="3882633" y="15755"/>
                  </a:cubicBezTo>
                  <a:lnTo>
                    <a:pt x="3882633" y="2693578"/>
                  </a:lnTo>
                  <a:cubicBezTo>
                    <a:pt x="3882633" y="2697757"/>
                    <a:pt x="3880973" y="2701764"/>
                    <a:pt x="3878018" y="2704719"/>
                  </a:cubicBezTo>
                  <a:cubicBezTo>
                    <a:pt x="3875063" y="2707673"/>
                    <a:pt x="3871056" y="2709333"/>
                    <a:pt x="3866878" y="2709333"/>
                  </a:cubicBezTo>
                  <a:lnTo>
                    <a:pt x="15755" y="2709333"/>
                  </a:lnTo>
                  <a:cubicBezTo>
                    <a:pt x="7054" y="2709333"/>
                    <a:pt x="0" y="2702280"/>
                    <a:pt x="0" y="2693578"/>
                  </a:cubicBezTo>
                  <a:lnTo>
                    <a:pt x="0" y="15755"/>
                  </a:lnTo>
                  <a:cubicBezTo>
                    <a:pt x="0" y="11576"/>
                    <a:pt x="1660" y="7569"/>
                    <a:pt x="4615" y="4615"/>
                  </a:cubicBezTo>
                  <a:cubicBezTo>
                    <a:pt x="7569" y="1660"/>
                    <a:pt x="11576" y="0"/>
                    <a:pt x="15755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 cap="rnd">
              <a:noFill/>
              <a:prstDash val="sysDot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3882633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5404085" y="8037505"/>
            <a:ext cx="928850" cy="1857699"/>
            <a:chOff x="0" y="0"/>
            <a:chExt cx="1238466" cy="2476932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5400000">
            <a:off x="5819437" y="464425"/>
            <a:ext cx="1857699" cy="928850"/>
            <a:chOff x="0" y="0"/>
            <a:chExt cx="2476932" cy="1238466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Freeform 42" id="42"/>
          <p:cNvSpPr/>
          <p:nvPr/>
        </p:nvSpPr>
        <p:spPr>
          <a:xfrm flipH="true" flipV="false" rot="0">
            <a:off x="7209593" y="636838"/>
            <a:ext cx="12070658" cy="9650162"/>
          </a:xfrm>
          <a:custGeom>
            <a:avLst/>
            <a:gdLst/>
            <a:ahLst/>
            <a:cxnLst/>
            <a:rect r="r" b="b" t="t" l="l"/>
            <a:pathLst>
              <a:path h="9650162" w="12070658">
                <a:moveTo>
                  <a:pt x="12070658" y="0"/>
                </a:moveTo>
                <a:lnTo>
                  <a:pt x="0" y="0"/>
                </a:lnTo>
                <a:lnTo>
                  <a:pt x="0" y="9650162"/>
                </a:lnTo>
                <a:lnTo>
                  <a:pt x="12070658" y="9650162"/>
                </a:lnTo>
                <a:lnTo>
                  <a:pt x="12070658" y="0"/>
                </a:lnTo>
                <a:close/>
              </a:path>
            </a:pathLst>
          </a:custGeom>
          <a:blipFill>
            <a:blip r:embed="rId2"/>
            <a:stretch>
              <a:fillRect l="0" t="0" r="-20016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352706" y="1816975"/>
            <a:ext cx="593115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</a:t>
            </a:r>
            <a:r>
              <a:rPr lang="en-US" b="true" sz="3000" spc="-6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ývoj AI modelu (Týždeň 4–10)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3808" y="2464675"/>
            <a:ext cx="6673552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Zber datasetu (obrázky odpadu)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Označovanie dát (plast, papier, kov, sklo atd.)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Trénovanie modelu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Testovanie presnosti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0" y="6377855"/>
            <a:ext cx="6469329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Spracovanie obrazu z kamery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ntegrácia AI modelu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Logika rozhodovania (kam zaradiť odpad)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Databáza pre spätnú väzbu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324131" y="5814850"/>
            <a:ext cx="714859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Výv</a:t>
            </a: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oj softvéru (Týždeň 6–11)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5400000">
            <a:off x="1133475" y="1333631"/>
            <a:ext cx="928850" cy="92885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-161343" y="2088889"/>
            <a:ext cx="13819258" cy="6109223"/>
            <a:chOff x="0" y="0"/>
            <a:chExt cx="3639640" cy="160901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39640" cy="1609013"/>
            </a:xfrm>
            <a:custGeom>
              <a:avLst/>
              <a:gdLst/>
              <a:ahLst/>
              <a:cxnLst/>
              <a:rect r="r" b="b" t="t" l="l"/>
              <a:pathLst>
                <a:path h="1609013" w="3639640">
                  <a:moveTo>
                    <a:pt x="16807" y="0"/>
                  </a:moveTo>
                  <a:lnTo>
                    <a:pt x="3622833" y="0"/>
                  </a:lnTo>
                  <a:cubicBezTo>
                    <a:pt x="3627291" y="0"/>
                    <a:pt x="3631566" y="1771"/>
                    <a:pt x="3634717" y="4923"/>
                  </a:cubicBezTo>
                  <a:cubicBezTo>
                    <a:pt x="3637869" y="8074"/>
                    <a:pt x="3639640" y="12349"/>
                    <a:pt x="3639640" y="16807"/>
                  </a:cubicBezTo>
                  <a:lnTo>
                    <a:pt x="3639640" y="1592207"/>
                  </a:lnTo>
                  <a:cubicBezTo>
                    <a:pt x="3639640" y="1596664"/>
                    <a:pt x="3637869" y="1600939"/>
                    <a:pt x="3634717" y="1604091"/>
                  </a:cubicBezTo>
                  <a:cubicBezTo>
                    <a:pt x="3631566" y="1607243"/>
                    <a:pt x="3627291" y="1609013"/>
                    <a:pt x="3622833" y="1609013"/>
                  </a:cubicBezTo>
                  <a:lnTo>
                    <a:pt x="16807" y="1609013"/>
                  </a:lnTo>
                  <a:cubicBezTo>
                    <a:pt x="7525" y="1609013"/>
                    <a:pt x="0" y="1601489"/>
                    <a:pt x="0" y="1592207"/>
                  </a:cubicBezTo>
                  <a:lnTo>
                    <a:pt x="0" y="16807"/>
                  </a:lnTo>
                  <a:cubicBezTo>
                    <a:pt x="0" y="12349"/>
                    <a:pt x="1771" y="8074"/>
                    <a:pt x="4923" y="4923"/>
                  </a:cubicBezTo>
                  <a:cubicBezTo>
                    <a:pt x="8074" y="1771"/>
                    <a:pt x="12349" y="0"/>
                    <a:pt x="16807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 cap="rnd">
              <a:noFill/>
              <a:prstDash val="sysDot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3639640" cy="158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5404085" y="8037505"/>
            <a:ext cx="928850" cy="1857699"/>
            <a:chOff x="0" y="0"/>
            <a:chExt cx="1238466" cy="2476932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5400000">
            <a:off x="5819437" y="464425"/>
            <a:ext cx="1857699" cy="928850"/>
            <a:chOff x="0" y="0"/>
            <a:chExt cx="2476932" cy="1238466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Freeform 42" id="42"/>
          <p:cNvSpPr/>
          <p:nvPr/>
        </p:nvSpPr>
        <p:spPr>
          <a:xfrm flipH="false" flipV="false" rot="0">
            <a:off x="14580528" y="4066982"/>
            <a:ext cx="3013793" cy="5825403"/>
          </a:xfrm>
          <a:custGeom>
            <a:avLst/>
            <a:gdLst/>
            <a:ahLst/>
            <a:cxnLst/>
            <a:rect r="r" b="b" t="t" l="l"/>
            <a:pathLst>
              <a:path h="5825403" w="3013793">
                <a:moveTo>
                  <a:pt x="0" y="0"/>
                </a:moveTo>
                <a:lnTo>
                  <a:pt x="3013792" y="0"/>
                </a:lnTo>
                <a:lnTo>
                  <a:pt x="3013792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3958" t="0" r="-9616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366374" y="4000307"/>
            <a:ext cx="682221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Ko</a:t>
            </a:r>
            <a:r>
              <a:rPr lang="en-US" b="true" sz="3000" spc="-6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nštrukcia prototypu (Týždeň 8–12)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0" y="4707716"/>
            <a:ext cx="6673552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Zostavenie fyzického koša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Zapojenie elektroniky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Prepojenie so softvérom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7392375" y="4707716"/>
            <a:ext cx="6469329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Prepojenie hardwareu, softwareu a AI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adenie komunikácie medzi částmi systému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est základnej funkcionality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7675285" y="4086032"/>
            <a:ext cx="646932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Integ</a:t>
            </a: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rácia systému (Týždeň 11–13)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5400000">
            <a:off x="1133475" y="1333631"/>
            <a:ext cx="928850" cy="92885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-161343" y="0"/>
            <a:ext cx="10184596" cy="10287000"/>
            <a:chOff x="0" y="0"/>
            <a:chExt cx="2682363" cy="27093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6823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682363">
                  <a:moveTo>
                    <a:pt x="22805" y="0"/>
                  </a:moveTo>
                  <a:lnTo>
                    <a:pt x="2659558" y="0"/>
                  </a:lnTo>
                  <a:cubicBezTo>
                    <a:pt x="2672153" y="0"/>
                    <a:pt x="2682363" y="10210"/>
                    <a:pt x="2682363" y="22805"/>
                  </a:cubicBezTo>
                  <a:lnTo>
                    <a:pt x="2682363" y="2686528"/>
                  </a:lnTo>
                  <a:cubicBezTo>
                    <a:pt x="2682363" y="2692577"/>
                    <a:pt x="2679960" y="2698377"/>
                    <a:pt x="2675683" y="2702654"/>
                  </a:cubicBezTo>
                  <a:cubicBezTo>
                    <a:pt x="2671407" y="2706931"/>
                    <a:pt x="2665606" y="2709333"/>
                    <a:pt x="2659558" y="2709333"/>
                  </a:cubicBezTo>
                  <a:lnTo>
                    <a:pt x="22805" y="2709333"/>
                  </a:lnTo>
                  <a:cubicBezTo>
                    <a:pt x="10210" y="2709333"/>
                    <a:pt x="0" y="2699123"/>
                    <a:pt x="0" y="2686528"/>
                  </a:cubicBezTo>
                  <a:lnTo>
                    <a:pt x="0" y="22805"/>
                  </a:lnTo>
                  <a:cubicBezTo>
                    <a:pt x="0" y="10210"/>
                    <a:pt x="10210" y="0"/>
                    <a:pt x="22805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 cap="rnd">
              <a:noFill/>
              <a:prstDash val="sysDot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2682363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5404085" y="8037505"/>
            <a:ext cx="928850" cy="1857699"/>
            <a:chOff x="0" y="0"/>
            <a:chExt cx="1238466" cy="2476932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5400000">
            <a:off x="5819437" y="464425"/>
            <a:ext cx="1857699" cy="928850"/>
            <a:chOff x="0" y="0"/>
            <a:chExt cx="2476932" cy="1238466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Freeform 42" id="42"/>
          <p:cNvSpPr/>
          <p:nvPr/>
        </p:nvSpPr>
        <p:spPr>
          <a:xfrm flipH="false" flipV="false" rot="0">
            <a:off x="10647952" y="1757849"/>
            <a:ext cx="6017519" cy="7500451"/>
          </a:xfrm>
          <a:custGeom>
            <a:avLst/>
            <a:gdLst/>
            <a:ahLst/>
            <a:cxnLst/>
            <a:rect r="r" b="b" t="t" l="l"/>
            <a:pathLst>
              <a:path h="7500451" w="6017519">
                <a:moveTo>
                  <a:pt x="0" y="0"/>
                </a:moveTo>
                <a:lnTo>
                  <a:pt x="6017519" y="0"/>
                </a:lnTo>
                <a:lnTo>
                  <a:pt x="6017519" y="7500451"/>
                </a:lnTo>
                <a:lnTo>
                  <a:pt x="0" y="7500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400331" y="1899249"/>
            <a:ext cx="77009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Testo</a:t>
            </a:r>
            <a:r>
              <a:rPr lang="en-US" b="true" sz="3000" spc="-6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vanie a optimalizácia (Týždeň 13–15)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3808" y="2464675"/>
            <a:ext cx="7602705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Testovanie v reálnych podmienkach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Zber spätnej väzby od používateľov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Zl</a:t>
            </a: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epšenie presnosti modelu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Oprava chýb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0" y="6305226"/>
            <a:ext cx="6469329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Vypracovanie dokumentácie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Príprav</a:t>
            </a: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a prezentácie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Finálne demo projektu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324131" y="5814850"/>
            <a:ext cx="852019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Dokumentácia a prezentácia (Týždeň 15–16)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65439" y="4267254"/>
            <a:ext cx="7757122" cy="202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  <a:spcBef>
                <a:spcPct val="0"/>
              </a:spcBef>
            </a:pPr>
            <a:r>
              <a:rPr lang="en-US" b="true" sz="7200" spc="-72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Ďakujeme za pozornosť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5400000">
            <a:off x="11533970" y="2166319"/>
            <a:ext cx="2977181" cy="2977181"/>
            <a:chOff x="0" y="0"/>
            <a:chExt cx="3969575" cy="396957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984788" cy="1984788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1984788"/>
              <a:ext cx="1984788" cy="1984788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984788" y="0"/>
              <a:ext cx="1984788" cy="1984788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5400000">
            <a:off x="5525495" y="1967693"/>
            <a:ext cx="1488591" cy="148859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5400000">
            <a:off x="4036904" y="6940710"/>
            <a:ext cx="1488591" cy="148859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BEBEC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5400000">
            <a:off x="4036904" y="3456284"/>
            <a:ext cx="1488591" cy="148859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5400000">
            <a:off x="11089327" y="7417953"/>
            <a:ext cx="1488591" cy="148859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5400000">
            <a:off x="2548314" y="6940710"/>
            <a:ext cx="1488591" cy="148859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5400000">
            <a:off x="152400" y="8581701"/>
            <a:ext cx="1857699" cy="1857699"/>
            <a:chOff x="0" y="0"/>
            <a:chExt cx="2476932" cy="2476932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DAHGZLll-wo</dc:identifier>
  <dcterms:modified xsi:type="dcterms:W3CDTF">2011-08-01T06:04:30Z</dcterms:modified>
  <cp:revision>1</cp:revision>
  <dc:title>SmartSort bin: Ganttov diagram</dc:title>
</cp:coreProperties>
</file>