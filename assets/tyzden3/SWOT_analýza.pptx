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57" r:id="rId4"/>
    <p:sldId id="261" r:id="rId5"/>
    <p:sldId id="258" r:id="rId6"/>
    <p:sldId id="263" r:id="rId7"/>
    <p:sldId id="265" r:id="rId8"/>
  </p:sldIdLst>
  <p:sldSz cx="12192000" cy="6858000"/>
  <p:notesSz cx="6858000" cy="9144000"/>
  <p:defaultTextStyle>
    <a:defPPr>
      <a:defRPr lang="cs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C7"/>
    <a:srgbClr val="C2E8FC"/>
    <a:srgbClr val="D8E7FF"/>
    <a:srgbClr val="C7FFFE"/>
    <a:srgbClr val="F1E9AE"/>
    <a:srgbClr val="F0ECB6"/>
    <a:srgbClr val="D6F7E1"/>
    <a:srgbClr val="C3E8FC"/>
    <a:srgbClr val="D8F1FF"/>
    <a:srgbClr val="F8F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5"/>
  </p:normalViewPr>
  <p:slideViewPr>
    <p:cSldViewPr snapToGrid="0">
      <p:cViewPr>
        <p:scale>
          <a:sx n="103" d="100"/>
          <a:sy n="103" d="100"/>
        </p:scale>
        <p:origin x="92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9C395-C526-E34C-8684-A24AE851B073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SK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DBC5E-859E-4B4A-8E2D-6EE92E3AFE95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6479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15B1E9-4429-0318-07E7-A0C779938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8EFEC6-0CA2-F8A2-0DDA-A2344C8A1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36A12B-83C0-FF83-5BD3-55503D965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233655E-AE5D-BFB7-F881-E2853034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5819CC1-42EE-AC75-F288-67126E19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34816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E5D7F1-0BEB-F6FA-9C61-3F1213CB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E3CF2C-55E5-B0AA-FA3B-5AADD90B8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EF36869-6A72-2B60-208C-479DDFB7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E322873-4518-C0E4-6134-0891C08A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249C368-FCDD-4E04-F928-7354BD2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25966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70E5A5-2891-AB1A-335F-BCD555A6F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FEC48B8-7CDB-8060-5E9C-8C0CB72E0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37B635-D32D-94C6-1544-5B704313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5464E7E-53A9-3BA8-2FBB-5C467C7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D49863E-A99A-3A9C-6323-2DA4C3C7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0138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91D344-F266-9ADB-B92B-5AB84B36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3E1E69-58D6-64CB-CE06-2D14FF6F4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FB02E33-5F8B-295F-7056-B49D828EC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C32C42A-F13E-EC57-C933-3D616F93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F5C72E2-EBF5-CBEF-770B-1DAE1182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4371479-7C46-F34B-4DE4-6F6430FD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51802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2A9AC9-E8D8-EB17-5087-38473063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C1EB867-AFF9-5D93-D7BA-5BFC01492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0125B5D-33EB-EF6A-1A50-DD660FE53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CB32FCD-42FF-51DF-0CFF-E43B20510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AECEA71-8696-C592-28A6-EE736DE70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AA34D57-6DC1-7D57-BAF4-9793C495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1DE97E6-EF68-8A7D-78FE-322B0E35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EF51C64-3522-DF3C-43C5-EDFEDAE9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68955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02F032-C105-A38F-A90A-E02953E8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A2005B7-C205-BDA2-FDE0-B45CA219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C18C980-A0D6-6C50-D526-F11C046E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AA3881A-54E3-8D91-285D-2D7D3B5B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87997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4D5936F-B51D-ABEB-41E8-5B56C3C4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77EE4BE-65FF-7016-DAD4-1EBBD9A1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2CE7A19-FC39-3D4C-CC63-9F7121B7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6681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75F893-F6B5-D98F-4125-F39CEDD1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FB91D3-8223-C021-0908-7F0432ACC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3B83456-5F08-AF00-E15F-255C1BD12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05D2EB0-C554-9610-0C27-566A4443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1F9435A-616D-CB17-BA54-B489C83C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B4B385B-76B2-60B4-F028-40E91DFE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9058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F452CB-9EA2-0226-FB74-58D4B1F51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DAEE662-F861-3C0E-BD32-421621903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5915AB-9E48-BDD0-3F71-03149730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DE837EF-460A-27F2-53E9-8DA0CEA5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93CE7-757E-23D6-BD27-23755B4B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FD06A50-FDC1-E6E3-B74E-2B9CA936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36317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4DB314-4042-8968-7CC9-5028A31F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72A00F9-B14D-6E22-7B1B-AA539F09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F365D3-3ECE-47F3-1E5C-791AAFB4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C85468E-458D-91B3-00D5-DA5F62B4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C043D73-444D-30B0-AA96-EA432C74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014695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3FCD132-A7EB-FF39-10F0-4BD01167C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B8861EE-3577-FBFE-84C9-44E77F265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61CB82F-2EC0-E066-B89E-78D7188D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87263A1-E74F-1AB5-9342-52E78C35F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D6C2E3E-7882-505E-8F4D-1576BBF4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92440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D9BCF01-9490-AF88-6890-C5A2285B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5E04090-651E-7A88-C448-24C1CB8A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DE57B1F-1122-6D02-F412-E6B3F03C0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051AC-28B2-8F4F-A86C-C80890611B1F}" type="datetimeFigureOut">
              <a:rPr lang="cs-SK" smtClean="0"/>
              <a:t>26.2.2026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F16076-FD07-896E-2703-D4E6838F2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13F9DD-3265-40C4-8D46-BBCF1B56E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A11EC-ADBC-394E-831E-5DBEAA3B89ED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053217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21C385-8B54-7C6C-46CF-1F46A6BF7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542" y="1214438"/>
            <a:ext cx="9910916" cy="2387600"/>
          </a:xfrm>
        </p:spPr>
        <p:txBody>
          <a:bodyPr/>
          <a:lstStyle/>
          <a:p>
            <a:r>
              <a:rPr lang="cs-SK" b="1" dirty="0"/>
              <a:t>SmartSort Bin: SWOT analýza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8BFAC5B-6195-C6B4-96C7-B41C7EB45D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SK" dirty="0"/>
              <a:t>Strategické zhodnotenie projektu</a:t>
            </a:r>
          </a:p>
        </p:txBody>
      </p:sp>
    </p:spTree>
    <p:extLst>
      <p:ext uri="{BB962C8B-B14F-4D97-AF65-F5344CB8AC3E}">
        <p14:creationId xmlns:p14="http://schemas.microsoft.com/office/powerpoint/2010/main" val="293258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FE0F11BD-E7D1-BE1C-BD83-714DC36A8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42543"/>
              </p:ext>
            </p:extLst>
          </p:nvPr>
        </p:nvGraphicFramePr>
        <p:xfrm>
          <a:off x="0" y="1"/>
          <a:ext cx="12191999" cy="6873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294">
                  <a:extLst>
                    <a:ext uri="{9D8B030D-6E8A-4147-A177-3AD203B41FA5}">
                      <a16:colId xmlns:a16="http://schemas.microsoft.com/office/drawing/2014/main" val="3452922562"/>
                    </a:ext>
                  </a:extLst>
                </a:gridCol>
                <a:gridCol w="5571266">
                  <a:extLst>
                    <a:ext uri="{9D8B030D-6E8A-4147-A177-3AD203B41FA5}">
                      <a16:colId xmlns:a16="http://schemas.microsoft.com/office/drawing/2014/main" val="2689498094"/>
                    </a:ext>
                  </a:extLst>
                </a:gridCol>
                <a:gridCol w="5425439">
                  <a:extLst>
                    <a:ext uri="{9D8B030D-6E8A-4147-A177-3AD203B41FA5}">
                      <a16:colId xmlns:a16="http://schemas.microsoft.com/office/drawing/2014/main" val="3763035851"/>
                    </a:ext>
                  </a:extLst>
                </a:gridCol>
              </a:tblGrid>
              <a:tr h="934134">
                <a:tc>
                  <a:txBody>
                    <a:bodyPr/>
                    <a:lstStyle/>
                    <a:p>
                      <a:pPr algn="ctr"/>
                      <a:endParaRPr lang="cs-SK" sz="28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SK" sz="2800" b="0" i="1" dirty="0">
                          <a:solidFill>
                            <a:sysClr val="windowText" lastClr="000000"/>
                          </a:solidFill>
                        </a:rPr>
                        <a:t>Pozitívne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SK" sz="2800" b="0" i="1" dirty="0">
                          <a:solidFill>
                            <a:sysClr val="windowText" lastClr="000000"/>
                          </a:solidFill>
                        </a:rPr>
                        <a:t>Negatívne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796742"/>
                  </a:ext>
                </a:extLst>
              </a:tr>
              <a:tr h="698227">
                <a:tc rowSpan="2">
                  <a:txBody>
                    <a:bodyPr/>
                    <a:lstStyle/>
                    <a:p>
                      <a:pPr algn="ctr"/>
                      <a:r>
                        <a:rPr lang="cs-SK" sz="2800" i="1" dirty="0"/>
                        <a:t>Interné faktory</a:t>
                      </a:r>
                    </a:p>
                  </a:txBody>
                  <a:tcPr marL="45720" marR="4572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SK" sz="2800" b="1" dirty="0"/>
                        <a:t>Silné stránky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F7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SK" sz="2800" b="1" dirty="0"/>
                        <a:t>Slabé stránky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9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013796"/>
                  </a:ext>
                </a:extLst>
              </a:tr>
              <a:tr h="2209753">
                <a:tc vMerge="1">
                  <a:txBody>
                    <a:bodyPr/>
                    <a:lstStyle/>
                    <a:p>
                      <a:endParaRPr lang="cs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AI Automatizácia a presnosť</a:t>
                      </a:r>
                    </a:p>
                    <a:p>
                      <a:pPr algn="ctr"/>
                      <a:r>
                        <a:rPr lang="cs-SK" sz="2800" dirty="0"/>
                        <a:t>Samoučiaci sa systém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Smart Monitoring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Edukačný rozmer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Technická komplexita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Závislosť na interakcii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Vyššie vstupné náklady (CAPEX)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Pomalšie triedenie p</a:t>
                      </a:r>
                      <a:r>
                        <a:rPr lang="cs-CZ" sz="2800" dirty="0" err="1"/>
                        <a:t>ri</a:t>
                      </a:r>
                      <a:r>
                        <a:rPr lang="cs-CZ" sz="2800" dirty="0"/>
                        <a:t> </a:t>
                      </a:r>
                      <a:r>
                        <a:rPr lang="cs-CZ" sz="2800" dirty="0" err="1"/>
                        <a:t>väčšom</a:t>
                      </a:r>
                      <a:r>
                        <a:rPr lang="cs-CZ" sz="2800" dirty="0"/>
                        <a:t> objeme odpadu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2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772396"/>
                  </a:ext>
                </a:extLst>
              </a:tr>
              <a:tr h="671574">
                <a:tc rowSpan="2">
                  <a:txBody>
                    <a:bodyPr/>
                    <a:lstStyle/>
                    <a:p>
                      <a:pPr algn="ctr"/>
                      <a:r>
                        <a:rPr lang="cs-SK" sz="2800" i="1" dirty="0"/>
                        <a:t>Externé faktory</a:t>
                      </a:r>
                    </a:p>
                  </a:txBody>
                  <a:tcPr marL="45720" marR="45720"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SK" sz="2800" b="1" dirty="0"/>
                        <a:t>Príležitosti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SK" sz="2800" b="1" dirty="0"/>
                        <a:t>Hrozby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69064"/>
                  </a:ext>
                </a:extLst>
              </a:tr>
              <a:tr h="2344312">
                <a:tc vMerge="1">
                  <a:txBody>
                    <a:bodyPr/>
                    <a:lstStyle/>
                    <a:p>
                      <a:endParaRPr lang="cs-S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Big Data a Analytika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Legislatíva a ESG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Škálovanie (Verejné priestory)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Riziko vandalizmu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Bezpečnostné normy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SK" sz="2800" dirty="0"/>
                        <a:t>Konkurenčný tlak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087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86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7A947E07-DA6F-682E-BA6A-C400424732E8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D6F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3018E82-C844-7B9C-E5F4-404E19ED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/>
              <a:t>Interné faktory - Silné stránky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7B2274-BAB5-2873-095E-C818A47A5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/>
          <a:lstStyle/>
          <a:p>
            <a:r>
              <a:rPr lang="cs-SK" b="1" dirty="0"/>
              <a:t>AI Automatizácia a presnosť</a:t>
            </a:r>
          </a:p>
          <a:p>
            <a:pPr lvl="1"/>
            <a:r>
              <a:rPr lang="cs-SK" dirty="0"/>
              <a:t>Computer Vision eliminuje ľudskú chybu p</a:t>
            </a:r>
            <a:r>
              <a:rPr lang="cs-CZ" dirty="0" err="1"/>
              <a:t>ri</a:t>
            </a:r>
            <a:r>
              <a:rPr lang="cs-CZ" dirty="0"/>
              <a:t> </a:t>
            </a:r>
            <a:r>
              <a:rPr lang="cs-CZ" dirty="0" err="1"/>
              <a:t>triedení</a:t>
            </a:r>
            <a:endParaRPr lang="cs-SK" dirty="0"/>
          </a:p>
          <a:p>
            <a:r>
              <a:rPr lang="cs-SK" b="1" dirty="0"/>
              <a:t>Samoučiaci sa systém (Self-learning)</a:t>
            </a:r>
          </a:p>
          <a:p>
            <a:pPr lvl="1"/>
            <a:r>
              <a:rPr lang="cs-SK" dirty="0"/>
              <a:t>Dáta z používateľských opráv automaticky zlepšujú model</a:t>
            </a:r>
          </a:p>
          <a:p>
            <a:r>
              <a:rPr lang="cs-SK" b="1" dirty="0"/>
              <a:t>Smart Monitoring</a:t>
            </a:r>
          </a:p>
          <a:p>
            <a:pPr lvl="1"/>
            <a:r>
              <a:rPr lang="cs-SK" dirty="0"/>
              <a:t>Notifikácia správcovi p</a:t>
            </a:r>
            <a:r>
              <a:rPr lang="cs-CZ" dirty="0" err="1"/>
              <a:t>ri</a:t>
            </a:r>
            <a:r>
              <a:rPr lang="cs-CZ" dirty="0"/>
              <a:t> 90% </a:t>
            </a:r>
            <a:r>
              <a:rPr lang="cs-CZ" dirty="0" err="1"/>
              <a:t>naplnení</a:t>
            </a:r>
            <a:r>
              <a:rPr lang="cs-CZ" dirty="0"/>
              <a:t> kapacity</a:t>
            </a:r>
            <a:endParaRPr lang="cs-SK" dirty="0"/>
          </a:p>
          <a:p>
            <a:r>
              <a:rPr lang="cs-SK" b="1" dirty="0"/>
              <a:t>Edukačný rozmer</a:t>
            </a:r>
          </a:p>
          <a:p>
            <a:pPr lvl="1"/>
            <a:r>
              <a:rPr lang="cs-SK" dirty="0"/>
              <a:t>Interaktívny displej učí ľudí správne triediť</a:t>
            </a:r>
          </a:p>
        </p:txBody>
      </p:sp>
    </p:spTree>
    <p:extLst>
      <p:ext uri="{BB962C8B-B14F-4D97-AF65-F5344CB8AC3E}">
        <p14:creationId xmlns:p14="http://schemas.microsoft.com/office/powerpoint/2010/main" val="2273834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45C37-7EC6-3A77-CB0D-3056608F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6287E1EC-2BFC-683C-B450-8D1E7B074E0B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F1E9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1841CD6-36D5-C5D6-75B7-A8B96AA0F8D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1E9AE"/>
          </a:solidFill>
        </p:spPr>
        <p:txBody>
          <a:bodyPr/>
          <a:lstStyle/>
          <a:p>
            <a:r>
              <a:rPr lang="cs-SK" b="1" dirty="0"/>
              <a:t>Interné faktory - Slabé stránky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B6B5A0-2537-231C-5CC6-FD844EA6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667251"/>
          </a:xfrm>
        </p:spPr>
        <p:txBody>
          <a:bodyPr>
            <a:normAutofit/>
          </a:bodyPr>
          <a:lstStyle/>
          <a:p>
            <a:r>
              <a:rPr lang="cs-SK" b="1" dirty="0"/>
              <a:t>Technická komplexita</a:t>
            </a:r>
          </a:p>
          <a:p>
            <a:pPr lvl="1"/>
            <a:r>
              <a:rPr lang="cs-SK" dirty="0"/>
              <a:t>Riziko znečistenia senzorov a potreba odbornej údržby</a:t>
            </a:r>
          </a:p>
          <a:p>
            <a:r>
              <a:rPr lang="cs-SK" b="1" dirty="0"/>
              <a:t>Závislosť na interakcii</a:t>
            </a:r>
          </a:p>
          <a:p>
            <a:pPr lvl="1"/>
            <a:r>
              <a:rPr lang="cs-SK" dirty="0"/>
              <a:t>Nutnosť manuálnej opravy do 3 sekúnd p</a:t>
            </a:r>
            <a:r>
              <a:rPr lang="cs-CZ" dirty="0"/>
              <a:t>r</a:t>
            </a:r>
            <a:r>
              <a:rPr lang="cs-SK" dirty="0"/>
              <a:t>i chybe AI</a:t>
            </a:r>
          </a:p>
          <a:p>
            <a:r>
              <a:rPr lang="cs-SK" b="1" dirty="0"/>
              <a:t>Vyššie vstupné náklady (CAPEX)</a:t>
            </a:r>
          </a:p>
          <a:p>
            <a:pPr lvl="1"/>
            <a:r>
              <a:rPr lang="cs-SK" dirty="0"/>
              <a:t>Komplexný hardvér zvyšuje cenu oproti bežným košom</a:t>
            </a:r>
          </a:p>
          <a:p>
            <a:r>
              <a:rPr lang="cs-SK" b="1" dirty="0"/>
              <a:t>Pomalšie triedenie p</a:t>
            </a:r>
            <a:r>
              <a:rPr lang="cs-CZ" b="1" dirty="0" err="1"/>
              <a:t>ri</a:t>
            </a:r>
            <a:r>
              <a:rPr lang="cs-CZ" b="1" dirty="0"/>
              <a:t> </a:t>
            </a:r>
            <a:r>
              <a:rPr lang="cs-CZ" b="1" dirty="0" err="1"/>
              <a:t>väčšom</a:t>
            </a:r>
            <a:r>
              <a:rPr lang="cs-CZ" b="1" dirty="0"/>
              <a:t> objeme odpadu</a:t>
            </a:r>
          </a:p>
          <a:p>
            <a:pPr lvl="1"/>
            <a:r>
              <a:rPr lang="cs-CZ" dirty="0"/>
              <a:t>Odpad je </a:t>
            </a:r>
            <a:r>
              <a:rPr lang="cs-CZ" dirty="0" err="1"/>
              <a:t>potrebné</a:t>
            </a:r>
            <a:r>
              <a:rPr lang="cs-CZ" dirty="0"/>
              <a:t> </a:t>
            </a:r>
            <a:r>
              <a:rPr lang="cs-CZ" dirty="0" err="1"/>
              <a:t>vhadzovať</a:t>
            </a:r>
            <a:r>
              <a:rPr lang="cs-CZ" dirty="0"/>
              <a:t> po jednom kuse, </a:t>
            </a:r>
            <a:r>
              <a:rPr lang="cs-CZ" dirty="0" err="1"/>
              <a:t>čo</a:t>
            </a:r>
            <a:r>
              <a:rPr lang="cs-CZ" dirty="0"/>
              <a:t> </a:t>
            </a:r>
            <a:r>
              <a:rPr lang="cs-CZ" dirty="0" err="1"/>
              <a:t>spomaľuje</a:t>
            </a:r>
            <a:r>
              <a:rPr lang="cs-CZ" dirty="0"/>
              <a:t> </a:t>
            </a:r>
            <a:r>
              <a:rPr lang="cs-CZ" dirty="0" err="1"/>
              <a:t>triedenie</a:t>
            </a:r>
            <a:r>
              <a:rPr lang="cs-CZ" dirty="0"/>
              <a:t>, </a:t>
            </a:r>
            <a:r>
              <a:rPr lang="cs-CZ" dirty="0" err="1"/>
              <a:t>vhodnejšie</a:t>
            </a:r>
            <a:r>
              <a:rPr lang="cs-CZ" dirty="0"/>
              <a:t> </a:t>
            </a:r>
            <a:r>
              <a:rPr lang="cs-CZ" dirty="0" err="1"/>
              <a:t>najmä</a:t>
            </a:r>
            <a:r>
              <a:rPr lang="cs-CZ" dirty="0"/>
              <a:t> do </a:t>
            </a:r>
            <a:r>
              <a:rPr lang="cs-CZ" dirty="0" err="1"/>
              <a:t>verejných</a:t>
            </a:r>
            <a:r>
              <a:rPr lang="cs-CZ" dirty="0"/>
              <a:t> </a:t>
            </a:r>
            <a:r>
              <a:rPr lang="cs-CZ" dirty="0" err="1"/>
              <a:t>priestorov</a:t>
            </a:r>
            <a:r>
              <a:rPr lang="cs-CZ" dirty="0"/>
              <a:t> než na </a:t>
            </a:r>
            <a:r>
              <a:rPr lang="cs-CZ" dirty="0" err="1"/>
              <a:t>veľké</a:t>
            </a:r>
            <a:r>
              <a:rPr lang="cs-CZ" dirty="0"/>
              <a:t> </a:t>
            </a:r>
            <a:r>
              <a:rPr lang="cs-CZ" dirty="0" err="1"/>
              <a:t>vrecia</a:t>
            </a:r>
            <a:r>
              <a:rPr lang="cs-CZ" dirty="0"/>
              <a:t> odpadu</a:t>
            </a:r>
            <a:endParaRPr lang="cs-SK" dirty="0"/>
          </a:p>
        </p:txBody>
      </p:sp>
    </p:spTree>
    <p:extLst>
      <p:ext uri="{BB962C8B-B14F-4D97-AF65-F5344CB8AC3E}">
        <p14:creationId xmlns:p14="http://schemas.microsoft.com/office/powerpoint/2010/main" val="63299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850F8C30-CC99-B7ED-052A-B13D61CC6C61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C2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39721FD-7F8A-3AD8-CA7E-17CECFD8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/>
              <a:t>Externé faktory - Príležitosti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1ED480-2B7E-3962-27F9-96927CB81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/>
          <a:lstStyle/>
          <a:p>
            <a:r>
              <a:rPr lang="cs-SK" b="1" dirty="0"/>
              <a:t>Big Data a Analytika</a:t>
            </a:r>
          </a:p>
          <a:p>
            <a:pPr lvl="1"/>
            <a:r>
              <a:rPr lang="cs-SK" dirty="0"/>
              <a:t>Zber cenných dát o odpade pre mestá (Smart Cities)</a:t>
            </a:r>
          </a:p>
          <a:p>
            <a:r>
              <a:rPr lang="cs-SK" b="1" dirty="0"/>
              <a:t>Legislatíva a ESG</a:t>
            </a:r>
          </a:p>
          <a:p>
            <a:pPr lvl="1"/>
            <a:r>
              <a:rPr lang="cs-SK" dirty="0"/>
              <a:t>Rastúci tlak EÚ a firiem na zelené technológie</a:t>
            </a:r>
          </a:p>
          <a:p>
            <a:r>
              <a:rPr lang="cs-SK" b="1" dirty="0"/>
              <a:t>Škálovanie (Verejné priestory)</a:t>
            </a:r>
          </a:p>
          <a:p>
            <a:pPr lvl="1"/>
            <a:r>
              <a:rPr lang="cs-SK" dirty="0"/>
              <a:t>Expanzia na stanice a do nákupných centier</a:t>
            </a:r>
          </a:p>
        </p:txBody>
      </p:sp>
    </p:spTree>
    <p:extLst>
      <p:ext uri="{BB962C8B-B14F-4D97-AF65-F5344CB8AC3E}">
        <p14:creationId xmlns:p14="http://schemas.microsoft.com/office/powerpoint/2010/main" val="2936217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C838-AA12-A6EA-B60B-5B070517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F031A375-0815-AB89-9B31-165E250B9C44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FFD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59375D-DB53-4427-3D74-FD9A250F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/>
              <a:t>Externé faktory - Hrozby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AD1CFA-1F1E-94B9-A7C8-A39C37D03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/>
          <a:lstStyle/>
          <a:p>
            <a:r>
              <a:rPr lang="cs-SK" b="1" dirty="0"/>
              <a:t>Riziko vandalizmu</a:t>
            </a:r>
          </a:p>
          <a:p>
            <a:pPr lvl="1"/>
            <a:r>
              <a:rPr lang="cs-SK" dirty="0"/>
              <a:t>Drahá technológia vystavená riziku na verejných miestach</a:t>
            </a:r>
          </a:p>
          <a:p>
            <a:r>
              <a:rPr lang="cs-SK" b="1" dirty="0"/>
              <a:t>Bezpečnostné normy</a:t>
            </a:r>
          </a:p>
          <a:p>
            <a:pPr lvl="1"/>
            <a:r>
              <a:rPr lang="cs-SK" dirty="0"/>
              <a:t>Pohyblivé časti vyžadujú prísnu certifikáciu proti úrazom</a:t>
            </a:r>
          </a:p>
          <a:p>
            <a:r>
              <a:rPr lang="cs-SK" b="1" dirty="0"/>
              <a:t>Konkurenčný tlak</a:t>
            </a:r>
          </a:p>
          <a:p>
            <a:pPr lvl="1"/>
            <a:r>
              <a:rPr lang="cs-SK" dirty="0"/>
              <a:t>Rýchly vývoj lacnejších alternatív na trhu</a:t>
            </a:r>
          </a:p>
        </p:txBody>
      </p:sp>
    </p:spTree>
    <p:extLst>
      <p:ext uri="{BB962C8B-B14F-4D97-AF65-F5344CB8AC3E}">
        <p14:creationId xmlns:p14="http://schemas.microsoft.com/office/powerpoint/2010/main" val="42368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54F556-2265-AC9D-FEBA-C032D12DD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847"/>
            <a:ext cx="9144000" cy="2387600"/>
          </a:xfrm>
        </p:spPr>
        <p:txBody>
          <a:bodyPr/>
          <a:lstStyle/>
          <a:p>
            <a:r>
              <a:rPr lang="cs-SK" b="1" dirty="0"/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142820796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260</Words>
  <Application>Microsoft Macintosh PowerPoint</Application>
  <PresentationFormat>Širokoúhlá obrazovka</PresentationFormat>
  <Paragraphs>57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Motiv Office</vt:lpstr>
      <vt:lpstr>SmartSort Bin: SWOT analýza</vt:lpstr>
      <vt:lpstr>Prezentace aplikace PowerPoint</vt:lpstr>
      <vt:lpstr>Interné faktory - Silné stránky</vt:lpstr>
      <vt:lpstr>Interné faktory - Slabé stránky</vt:lpstr>
      <vt:lpstr>Externé faktory - Príležitosti</vt:lpstr>
      <vt:lpstr>Externé faktory - Hrozby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 Vojteková</dc:creator>
  <cp:lastModifiedBy>Ema Vojteková</cp:lastModifiedBy>
  <cp:revision>2</cp:revision>
  <dcterms:created xsi:type="dcterms:W3CDTF">2026-02-26T11:10:49Z</dcterms:created>
  <dcterms:modified xsi:type="dcterms:W3CDTF">2026-02-26T16:15:10Z</dcterms:modified>
</cp:coreProperties>
</file>